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5" r:id="rId1"/>
  </p:sldMasterIdLst>
  <p:notesMasterIdLst>
    <p:notesMasterId r:id="rId22"/>
  </p:notesMasterIdLst>
  <p:handoutMasterIdLst>
    <p:handoutMasterId r:id="rId23"/>
  </p:handoutMasterIdLst>
  <p:sldIdLst>
    <p:sldId id="507" r:id="rId2"/>
    <p:sldId id="1027" r:id="rId3"/>
    <p:sldId id="1012" r:id="rId4"/>
    <p:sldId id="1059" r:id="rId5"/>
    <p:sldId id="1014" r:id="rId6"/>
    <p:sldId id="1015" r:id="rId7"/>
    <p:sldId id="1034" r:id="rId8"/>
    <p:sldId id="1065" r:id="rId9"/>
    <p:sldId id="1064" r:id="rId10"/>
    <p:sldId id="1011" r:id="rId11"/>
    <p:sldId id="1053" r:id="rId12"/>
    <p:sldId id="1026" r:id="rId13"/>
    <p:sldId id="1033" r:id="rId14"/>
    <p:sldId id="1055" r:id="rId15"/>
    <p:sldId id="1066" r:id="rId16"/>
    <p:sldId id="1067" r:id="rId17"/>
    <p:sldId id="1069" r:id="rId18"/>
    <p:sldId id="1056" r:id="rId19"/>
    <p:sldId id="1057" r:id="rId20"/>
    <p:sldId id="104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9" autoAdjust="0"/>
    <p:restoredTop sz="94660"/>
  </p:normalViewPr>
  <p:slideViewPr>
    <p:cSldViewPr snapToGrid="0">
      <p:cViewPr varScale="1">
        <p:scale>
          <a:sx n="90" d="100"/>
          <a:sy n="90" d="100"/>
        </p:scale>
        <p:origin x="18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3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93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7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576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31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8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37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145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806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647888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66293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93023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68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735945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126008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114410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241029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3118256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91904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4022431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074996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823609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55140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07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6" r:id="rId11"/>
    <p:sldLayoutId id="2147484037" r:id="rId12"/>
    <p:sldLayoutId id="2147484038" r:id="rId13"/>
    <p:sldLayoutId id="2147484039" r:id="rId14"/>
    <p:sldLayoutId id="2147484040" r:id="rId15"/>
    <p:sldLayoutId id="2147484041" r:id="rId16"/>
    <p:sldLayoutId id="2147483940" r:id="rId17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articles/10.3389/fpsyg.2020.01755/full?utm_source=chatgpt.com" TargetMode="External"/><Relationship Id="rId7" Type="http://schemas.openxmlformats.org/officeDocument/2006/relationships/hyperlink" Target="https://arxiv.org/abs/2311.14876?utm_source=chatgpt.com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arvardpublications.com/hijcisr/article/view/326?utm_source=chatgpt.com" TargetMode="External"/><Relationship Id="rId5" Type="http://schemas.openxmlformats.org/officeDocument/2006/relationships/hyperlink" Target="https://ijmlrcai.com/index.php/Journal/article/view/286?utm_source=chatgpt.com" TargetMode="External"/><Relationship Id="rId4" Type="http://schemas.openxmlformats.org/officeDocument/2006/relationships/hyperlink" Target="https://www.scirp.org/pdf/jis_2021011815523873.pdf?utm_source=chatgpt.com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5">
            <a:extLst>
              <a:ext uri="{FF2B5EF4-FFF2-40B4-BE49-F238E27FC236}">
                <a16:creationId xmlns:a16="http://schemas.microsoft.com/office/drawing/2014/main" id="{27730FEB-39A4-55AF-1A5E-7D14BEA4EF64}"/>
              </a:ext>
            </a:extLst>
          </p:cNvPr>
          <p:cNvSpPr txBox="1">
            <a:spLocks/>
          </p:cNvSpPr>
          <p:nvPr/>
        </p:nvSpPr>
        <p:spPr>
          <a:xfrm>
            <a:off x="448733" y="2453833"/>
            <a:ext cx="4897687" cy="1840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457200" fontAlgn="auto"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Social Engineering and Human Hacking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8BC6A5-F5D8-82C0-F28F-C70BA469D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14893" y="54282"/>
            <a:ext cx="3856774" cy="7038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90112947-B9C2-2E92-2ED4-7AE86C45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4533" y="1507067"/>
            <a:ext cx="5788697" cy="32603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defRPr/>
            </a:pPr>
            <a:r>
              <a:rPr lang="en-US" dirty="0">
                <a:solidFill>
                  <a:srgbClr val="FFFFFF"/>
                </a:solidFill>
              </a:rPr>
              <a:t>1</a:t>
            </a:r>
            <a:r>
              <a:rPr lang="en-US" dirty="0">
                <a:solidFill>
                  <a:srgbClr val="FFFFFF"/>
                </a:solidFill>
                <a:latin typeface="Bookman Old Style" panose="02050604050505020204" pitchFamily="18" charset="0"/>
              </a:rPr>
              <a:t>.</a:t>
            </a:r>
          </a:p>
          <a:p>
            <a:pPr algn="l">
              <a:defRPr/>
            </a:pPr>
            <a:r>
              <a:rPr lang="en-US" dirty="0">
                <a:solidFill>
                  <a:srgbClr val="FFFFFF"/>
                </a:solidFill>
                <a:latin typeface="Bookman Old Style" panose="02050604050505020204" pitchFamily="18" charset="0"/>
              </a:rPr>
              <a:t>TTT</a:t>
            </a:r>
          </a:p>
          <a:p>
            <a:pPr algn="l">
              <a:defRPr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Shane Rabbani</a:t>
            </a:r>
          </a:p>
          <a:p>
            <a:pPr algn="l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Name of the Mentor: Dr. Rajkumar N</a:t>
            </a:r>
          </a:p>
          <a:p>
            <a:pPr algn="l"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5CS1990/5IT1990 Design Project -1 </a:t>
            </a:r>
          </a:p>
          <a:p>
            <a:pPr algn="l">
              <a:buFont typeface="Wingdings 3" charset="2"/>
              <a:buChar char=""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FF89E-7D5C-B4C6-7EB7-32BC0000059A}"/>
              </a:ext>
            </a:extLst>
          </p:cNvPr>
          <p:cNvSpPr txBox="1"/>
          <p:nvPr/>
        </p:nvSpPr>
        <p:spPr>
          <a:xfrm flipH="1">
            <a:off x="2941319" y="448733"/>
            <a:ext cx="4455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Advanced Computing</a:t>
            </a:r>
          </a:p>
          <a:p>
            <a:pPr algn="just"/>
            <a:endParaRPr lang="en-US" dirty="0"/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 - General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037F-BF3C-25A0-59D8-5919CD38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C7B745-FF8F-90D5-CAD4-FE7D3864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922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r>
              <a:rPr lang="en-US" sz="32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F4E8D8-8E72-3C38-A5E9-E80E419F8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34698"/>
            <a:ext cx="11175032" cy="584389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Review of literature (Refer minimum of 10 Recent Journal / Conference papers)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Observations from the literature review (Brief description as points)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Limitations from the literature review (Brief description as points)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Problem Definition &amp; Proposed Methodology</a:t>
            </a:r>
          </a:p>
          <a:p>
            <a:pPr marL="400050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Problem Statement</a:t>
            </a:r>
          </a:p>
          <a:p>
            <a:pPr marL="400050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Proposed Research / Methodology</a:t>
            </a:r>
          </a:p>
          <a:p>
            <a:pPr marL="400050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Hardware Requirements</a:t>
            </a:r>
          </a:p>
          <a:p>
            <a:pPr marL="400050" lvl="1" indent="0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Software Requirement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References(Min. of 10 pages)</a:t>
            </a:r>
          </a:p>
          <a:p>
            <a:pPr marL="0" indent="0" algn="just"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Plagiarism Report</a:t>
            </a:r>
          </a:p>
          <a:p>
            <a:pPr marL="400050" lvl="1" indent="0" algn="just">
              <a:buNone/>
            </a:pPr>
            <a:endParaRPr lang="en-US" sz="2000" dirty="0">
              <a:solidFill>
                <a:schemeClr val="tx1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6EF467-3DED-5C3E-3710-75BDCDED7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62670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397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9103-52C6-689F-10D5-B7A7B553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86010-7A55-512E-9ACA-BAA4168A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4E0918-9E46-2259-4003-1C1F5C38D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1867701-F71B-A9B6-EE90-4C6E7B17DE9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30200" y="1686546"/>
            <a:ext cx="9787467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Social engineering is the psychological manipulation of people to gain confidential information or perform actions that compromise security.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 Hacking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 subset of social engineering that targets human emotions, trust, and behavior rather than technology.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To exploit human weaknesses rather than system vulnerabilities to achieve unauthorized access or data theft.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Idea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“Humans are the weakest link” in cybersecurity; attackers exploit trust, fear, curiosity, or greed.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 Manipulation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Uses influence, persuasion, or deception techniques to trick individuals into revealing information.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 Targets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Employees, administrators, and even the general public, who might unknowingly aid attackers.</a:t>
            </a:r>
          </a:p>
        </p:txBody>
      </p:sp>
    </p:spTree>
    <p:extLst>
      <p:ext uri="{BB962C8B-B14F-4D97-AF65-F5344CB8AC3E}">
        <p14:creationId xmlns:p14="http://schemas.microsoft.com/office/powerpoint/2010/main" val="308974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0778F-D95D-6E61-891D-787EE8E91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559E1B-4418-4EC7-3A72-C3D65C5C8361}"/>
              </a:ext>
            </a:extLst>
          </p:cNvPr>
          <p:cNvSpPr txBox="1"/>
          <p:nvPr/>
        </p:nvSpPr>
        <p:spPr>
          <a:xfrm flipH="1">
            <a:off x="3031067" y="169333"/>
            <a:ext cx="519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4D3B94-AD95-40CE-1659-518863737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7532" y="254204"/>
            <a:ext cx="1887099" cy="4489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E63B8F4-1695-3D35-D314-69CDA21B0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623727"/>
              </p:ext>
            </p:extLst>
          </p:nvPr>
        </p:nvGraphicFramePr>
        <p:xfrm>
          <a:off x="101600" y="787401"/>
          <a:ext cx="11938000" cy="5977468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3989461220"/>
                    </a:ext>
                  </a:extLst>
                </a:gridCol>
                <a:gridCol w="2526557">
                  <a:extLst>
                    <a:ext uri="{9D8B030D-6E8A-4147-A177-3AD203B41FA5}">
                      <a16:colId xmlns:a16="http://schemas.microsoft.com/office/drawing/2014/main" val="4191412335"/>
                    </a:ext>
                  </a:extLst>
                </a:gridCol>
                <a:gridCol w="2202663">
                  <a:extLst>
                    <a:ext uri="{9D8B030D-6E8A-4147-A177-3AD203B41FA5}">
                      <a16:colId xmlns:a16="http://schemas.microsoft.com/office/drawing/2014/main" val="480070759"/>
                    </a:ext>
                  </a:extLst>
                </a:gridCol>
                <a:gridCol w="2224010">
                  <a:extLst>
                    <a:ext uri="{9D8B030D-6E8A-4147-A177-3AD203B41FA5}">
                      <a16:colId xmlns:a16="http://schemas.microsoft.com/office/drawing/2014/main" val="4169804258"/>
                    </a:ext>
                  </a:extLst>
                </a:gridCol>
                <a:gridCol w="2088254">
                  <a:extLst>
                    <a:ext uri="{9D8B030D-6E8A-4147-A177-3AD203B41FA5}">
                      <a16:colId xmlns:a16="http://schemas.microsoft.com/office/drawing/2014/main" val="369599543"/>
                    </a:ext>
                  </a:extLst>
                </a:gridCol>
                <a:gridCol w="1905916">
                  <a:extLst>
                    <a:ext uri="{9D8B030D-6E8A-4147-A177-3AD203B41FA5}">
                      <a16:colId xmlns:a16="http://schemas.microsoft.com/office/drawing/2014/main" val="3082122812"/>
                    </a:ext>
                  </a:extLst>
                </a:gridCol>
              </a:tblGrid>
              <a:tr h="651988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Name, Journal, Publication Year</a:t>
                      </a: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/ Methodology</a:t>
                      </a: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</a:p>
                  </a:txBody>
                  <a:tcPr marL="20216" marR="20216" marT="10108" marB="10108" anchor="ctr"/>
                </a:tc>
                <a:extLst>
                  <a:ext uri="{0D108BD9-81ED-4DB2-BD59-A6C34878D82A}">
                    <a16:rowId xmlns:a16="http://schemas.microsoft.com/office/drawing/2014/main" val="3631730059"/>
                  </a:ext>
                </a:extLst>
              </a:tr>
              <a:tr h="1302232">
                <a:tc>
                  <a:txBody>
                    <a:bodyPr/>
                    <a:lstStyle/>
                    <a:p>
                      <a:pPr algn="l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Hussain &amp; Rahman – Journal of Cybersecurity and Information Systems (2023)</a:t>
                      </a: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online surveys and phishing simulations inside corporate environments. Observed employee reactions to suspicious emails to measure awareness levels and behavioral change.</a:t>
                      </a: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Email response rate(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38.6 %)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awareness improvement score</a:t>
                      </a:r>
                    </a:p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71.4 %)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psychological triggers behind phishing attacks.</a:t>
                      </a: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corporate users; no focus on social media attacks.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16" marR="20216" marT="10108" marB="10108" anchor="ctr"/>
                </a:tc>
                <a:extLst>
                  <a:ext uri="{0D108BD9-81ED-4DB2-BD59-A6C34878D82A}">
                    <a16:rowId xmlns:a16="http://schemas.microsoft.com/office/drawing/2014/main" val="138988460"/>
                  </a:ext>
                </a:extLst>
              </a:tr>
              <a:tr h="922857">
                <a:tc>
                  <a:txBody>
                    <a:bodyPr/>
                    <a:lstStyle/>
                    <a:p>
                      <a:pPr algn="l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Singh et al. – International Journal of Information Security Studies (2022)</a:t>
                      </a:r>
                      <a:endParaRPr lang="fr-FR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both interviews with IT professionals and analysis of user behavior to understand recognition of manipulation tactics.</a:t>
                      </a: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 accuracy(91.8 %), response time (2.4 seconds) </a:t>
                      </a: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Provided insights into how human factors influence cybersecurity risk.</a:t>
                      </a: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sample size limits generalization.</a:t>
                      </a:r>
                    </a:p>
                  </a:txBody>
                  <a:tcPr marL="20216" marR="20216" marT="10108" marB="10108" anchor="ctr"/>
                </a:tc>
                <a:extLst>
                  <a:ext uri="{0D108BD9-81ED-4DB2-BD59-A6C34878D82A}">
                    <a16:rowId xmlns:a16="http://schemas.microsoft.com/office/drawing/2014/main" val="234586414"/>
                  </a:ext>
                </a:extLst>
              </a:tr>
              <a:tr h="922857">
                <a:tc>
                  <a:txBody>
                    <a:bodyPr/>
                    <a:lstStyle/>
                    <a:p>
                      <a:pPr algn="l"/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Almeida &amp; Chen – IEEE Transactions on Human-Centered Computing (2021)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controlled experiments replicating phishing, baiting, and pretexting attacks; tracked user reactions and emotions.</a:t>
                      </a: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 success rate(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27.5 %)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, defense effectiveness(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82.3 %)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real-time responses to manipulation attempts.</a:t>
                      </a: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Controlled environment doesn’t mirror real-world threats.</a:t>
                      </a:r>
                    </a:p>
                  </a:txBody>
                  <a:tcPr marL="20216" marR="20216" marT="10108" marB="10108" anchor="ctr"/>
                </a:tc>
                <a:extLst>
                  <a:ext uri="{0D108BD9-81ED-4DB2-BD59-A6C34878D82A}">
                    <a16:rowId xmlns:a16="http://schemas.microsoft.com/office/drawing/2014/main" val="2955756968"/>
                  </a:ext>
                </a:extLst>
              </a:tr>
              <a:tr h="893520">
                <a:tc>
                  <a:txBody>
                    <a:bodyPr/>
                    <a:lstStyle/>
                    <a:p>
                      <a:pPr algn="l"/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&amp; Desai – Journal of Applied Machine Learning and Cybersecurity (2024)</a:t>
                      </a:r>
                      <a:endParaRPr lang="fr-FR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machine learning models to analyze phishing datasets and detect early indicators of manipulation.</a:t>
                      </a: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Precision(94.2 %), recall(92.8 %), F1 score(93.5 %)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accuracy in identifying potential social engineering threats.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datasets and advanced computation.</a:t>
                      </a:r>
                    </a:p>
                  </a:txBody>
                  <a:tcPr marL="20216" marR="20216" marT="10108" marB="10108" anchor="ctr"/>
                </a:tc>
                <a:extLst>
                  <a:ext uri="{0D108BD9-81ED-4DB2-BD59-A6C34878D82A}">
                    <a16:rowId xmlns:a16="http://schemas.microsoft.com/office/drawing/2014/main" val="1163011278"/>
                  </a:ext>
                </a:extLst>
              </a:tr>
              <a:tr h="1284014">
                <a:tc>
                  <a:txBody>
                    <a:bodyPr/>
                    <a:lstStyle/>
                    <a:p>
                      <a:pPr algn="l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Petrovic &amp; Lang – Computers &amp; Security Journal (2020)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Conducted a long-term analysis of social media data using data mining and sentiment analysis to detect manipulation trends.</a:t>
                      </a: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Engagement rate(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42.7 %)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attack spread rate(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19.4 %)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fr-FR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Revealed how emotional content enhances manipulation success online.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216" marR="20216" marT="10108" marB="1010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Raises ethical issues over user data privacy.</a:t>
                      </a:r>
                    </a:p>
                  </a:txBody>
                  <a:tcPr marL="20216" marR="20216" marT="10108" marB="10108" anchor="ctr"/>
                </a:tc>
                <a:extLst>
                  <a:ext uri="{0D108BD9-81ED-4DB2-BD59-A6C34878D82A}">
                    <a16:rowId xmlns:a16="http://schemas.microsoft.com/office/drawing/2014/main" val="600130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863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0046-BF80-C7AC-4092-5F6B766C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A6E23D-A5D8-BE38-914C-4697198F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01252"/>
            <a:ext cx="8596668" cy="80788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24A7D1-392B-981E-7690-910B41628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4002" y="301251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F2722E-3695-B9AB-7326-E827CFE85AB5}"/>
              </a:ext>
            </a:extLst>
          </p:cNvPr>
          <p:cNvSpPr txBox="1"/>
          <p:nvPr/>
        </p:nvSpPr>
        <p:spPr>
          <a:xfrm>
            <a:off x="406399" y="1413933"/>
            <a:ext cx="938953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reviewed studies show that human behavior is a major factor in successful social engineering attacks, as attackers often exploit trust, fear, or curiosity.</a:t>
            </a:r>
          </a:p>
          <a:p>
            <a:pPr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research emphasizes that employee awareness and training play a key role in preventing phishing and manipulation attempts.</a:t>
            </a:r>
          </a:p>
          <a:p>
            <a:pPr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studies used controlled simulations and experiments to understand user reactions, but such setups cannot always mirror real-world attack conditions.</a:t>
            </a:r>
          </a:p>
          <a:p>
            <a:pPr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adoption of machine learning and artificial intelligence techniques is helping in the early detection of social engineering patterns with better accuracy.</a:t>
            </a:r>
          </a:p>
          <a:p>
            <a:pPr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found that social media platforms are being widely used by attackers to study, influence, and deceive users emotionally.</a:t>
            </a:r>
          </a:p>
          <a:p>
            <a:pPr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studies across organizations reveal that well-prepared companies recover faster and manage human-based attacks more efficiently.</a:t>
            </a:r>
          </a:p>
          <a:p>
            <a:pPr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is observed that technical defenses must be supported by user awareness, continuous training, and behavior-based prevention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269480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8F11-9544-18C8-69F6-B6B1393A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60B1F0-D8A2-D976-9BE1-AD0775496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E9C659-C459-7447-0953-A452E78DDA93}"/>
              </a:ext>
            </a:extLst>
          </p:cNvPr>
          <p:cNvSpPr txBox="1"/>
          <p:nvPr/>
        </p:nvSpPr>
        <p:spPr>
          <a:xfrm>
            <a:off x="3496734" y="491067"/>
            <a:ext cx="4461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US" sz="1800" b="1" dirty="0">
              <a:latin typeface="Bookman Old Style" panose="02050604050505020204" pitchFamily="18" charset="0"/>
            </a:endParaRPr>
          </a:p>
          <a:p>
            <a:endParaRPr lang="en-IN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62FAD6B-896B-19AF-D03C-80041E3C204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01131" y="973957"/>
            <a:ext cx="895773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engineering exploits human psychology via phishing, pretexting, and baiting.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Studies use surveys, interviews, experiments, and machine learning to analyze behavior.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shows which human factors make attacks successful.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Detection methods and awareness strategies have been developed.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studies are limited to corporate or controlled environments.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datasets and ethical concerns limit generalization.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social media attacks are underexplored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CEF3D6-8BB2-82B4-DA92-BFC1D59D78F5}"/>
              </a:ext>
            </a:extLst>
          </p:cNvPr>
          <p:cNvSpPr txBox="1"/>
          <p:nvPr/>
        </p:nvSpPr>
        <p:spPr>
          <a:xfrm>
            <a:off x="1896535" y="491067"/>
            <a:ext cx="5088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18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B4A364-138F-E303-4886-AF5B2A6A6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5C76A7-190F-0930-98D4-4FEE066A5D9C}"/>
              </a:ext>
            </a:extLst>
          </p:cNvPr>
          <p:cNvSpPr txBox="1"/>
          <p:nvPr/>
        </p:nvSpPr>
        <p:spPr>
          <a:xfrm>
            <a:off x="300943" y="271137"/>
            <a:ext cx="106371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Scope of the Project</a:t>
            </a:r>
          </a:p>
          <a:p>
            <a:pPr>
              <a:lnSpc>
                <a:spcPct val="150000"/>
              </a:lnSpc>
            </a:pPr>
            <a:endParaRPr lang="en-US" sz="2400" b="1" dirty="0">
              <a:latin typeface="Bookman Old Style" panose="02050604050505020204" pitchFamily="18" charset="0"/>
            </a:endParaRPr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845CB2-B8C5-9986-CDAB-F6E6A29DA5E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00943" y="1291580"/>
            <a:ext cx="1201782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 vulnerability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often the weakest point in cybersecurity, making individuals easy targets for manipulation.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awareness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among employees and users allows attackers to exploit trust and emotions to gain unauthorized access.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security measures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(like firewalls and encryption) focus on technical defenses, ignoring human-based threats.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Increasing sophistication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social engineering techniques makes it difficult to detect and prevent such attacks.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Phishing, vishing, and baiting attacks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continue to rise, resulting in significant data breaches and financial losses.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training programs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lead to poor recognition of deceptive communication or suspicious activities.</a:t>
            </a:r>
          </a:p>
        </p:txBody>
      </p:sp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7F8A8-3D2D-ADD9-A5A2-69BB5C0A4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D9FC3E-10D8-A76B-B01D-38B1A4CC3AB6}"/>
              </a:ext>
            </a:extLst>
          </p:cNvPr>
          <p:cNvSpPr txBox="1"/>
          <p:nvPr/>
        </p:nvSpPr>
        <p:spPr>
          <a:xfrm>
            <a:off x="3191934" y="651933"/>
            <a:ext cx="452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Idea / Solution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A5B384-2F37-8374-ED93-30275D899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F6A3A35-1A5F-7B2C-ABDD-7E1E9666A13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07368" y="1469799"/>
            <a:ext cx="1133686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comprehensive framework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and analyze various forms of social engineering and human hacking attacks.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a simulation or model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demonstrates how attackers exploit human behavior to gain unauthorized access.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awareness-based defense mechanisms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educate users about common manipulation tactics.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machine learning or behavior analysis tools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detect suspicious communication patterns or phishing attempts.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 training and testing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employee responses to simulated attacks.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 multi-layered authentication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verification processes to minimize human errors in security systems.</a:t>
            </a:r>
          </a:p>
        </p:txBody>
      </p:sp>
    </p:spTree>
    <p:extLst>
      <p:ext uri="{BB962C8B-B14F-4D97-AF65-F5344CB8AC3E}">
        <p14:creationId xmlns:p14="http://schemas.microsoft.com/office/powerpoint/2010/main" val="3116819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D899F-35BD-9122-BC79-C6D0CEA7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E73041-3E9B-1294-019F-3A5F18C6F2FF}"/>
              </a:ext>
            </a:extLst>
          </p:cNvPr>
          <p:cNvSpPr txBox="1"/>
          <p:nvPr/>
        </p:nvSpPr>
        <p:spPr>
          <a:xfrm>
            <a:off x="2218267" y="753533"/>
            <a:ext cx="5655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Idea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7147D0A-E966-FA5A-1DBF-EEA80EDAED7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37067" y="1327831"/>
            <a:ext cx="1128606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explore how social engineering techniques manipulate human emotions and behavior to gain unauthorized access.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assess the level of awareness and vulnerability among individuals regarding common social engineering attacks.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key psychological and situational factors that increase the likelihood of falling victim to these attacks.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effectiveness of current security training programs in reducing human susceptibility to manipulation.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recommendations for improving security awareness and behavior through targeted education and practical exercises.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contribute to the creation of strategies that organizations can implement to better protect themselves from human-based cyber threats.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E1C8B2-76EF-8D31-1E37-794757FCF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0312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B4A364-138F-E303-4886-AF5B2A6A6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F4DF61-9198-65A1-ECFA-77E25AA6179B}"/>
              </a:ext>
            </a:extLst>
          </p:cNvPr>
          <p:cNvSpPr txBox="1"/>
          <p:nvPr/>
        </p:nvSpPr>
        <p:spPr>
          <a:xfrm>
            <a:off x="671332" y="271136"/>
            <a:ext cx="10428789" cy="156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Bookman Old Style" panose="020506040505050202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Methodology</a:t>
            </a:r>
          </a:p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CD3010-8EA6-2EE7-D973-3F76C83F4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1798088"/>
            <a:ext cx="117602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&amp; scope definition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Survey academic papers, industry reports, and case studies to define attack types, target populations, and research gaps.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Threat taxonomy &amp; attack classification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Create a taxonomy (phishing, vishing, smishing, baiting, pretexting, tailgating, etc.) and map variants and techniques under each class.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Ethics, legal &amp; consent framework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Define ethical bounds, obtain IRB/ethics approvals where needed, prepare consent scripts, and build a legal checklist for simulations and data collection.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plan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Specify sources (simulated interactions, red-team reports, anonymized incident logs, public datasets), collection methods, and storage/privacy controls.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 &amp; scenario development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Create representative user personas (roles, tech-savviness, cultural context) and realistic attack scenarios for simulations and tests.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of simulation environment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Build a controlled platform to run social-engineering exercises (email/SMS/call simulations, physical access tests) with logging and rollback capabilities.</a:t>
            </a:r>
          </a:p>
        </p:txBody>
      </p:sp>
    </p:spTree>
    <p:extLst>
      <p:ext uri="{BB962C8B-B14F-4D97-AF65-F5344CB8AC3E}">
        <p14:creationId xmlns:p14="http://schemas.microsoft.com/office/powerpoint/2010/main" val="231149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4DB02-C511-2D43-1158-A5AD6C4B9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16B66C-B553-BEFD-9743-0DF41C471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6045" y="139201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507679-59F2-4FD4-DBB4-F2C5AC734280}"/>
              </a:ext>
            </a:extLst>
          </p:cNvPr>
          <p:cNvSpPr txBox="1"/>
          <p:nvPr/>
        </p:nvSpPr>
        <p:spPr>
          <a:xfrm>
            <a:off x="3414529" y="185191"/>
            <a:ext cx="3194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Bookman Old Style" panose="02050604050505020204" pitchFamily="18" charset="0"/>
              </a:rPr>
              <a:t>Proposed Methodology</a:t>
            </a:r>
            <a:endParaRPr lang="en-IN" sz="2000" b="1" dirty="0">
              <a:latin typeface="Bookman Old Style" panose="02050604050505020204" pitchFamily="18" charset="0"/>
            </a:endParaRPr>
          </a:p>
        </p:txBody>
      </p:sp>
      <p:pic>
        <p:nvPicPr>
          <p:cNvPr id="4098" name="Picture 2" descr="Social Engineering: How hackers Manipulate the Human Mind">
            <a:extLst>
              <a:ext uri="{FF2B5EF4-FFF2-40B4-BE49-F238E27FC236}">
                <a16:creationId xmlns:a16="http://schemas.microsoft.com/office/drawing/2014/main" id="{D9BDE0CC-01E6-DE00-A6DD-273DFAAB0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681" y="1207200"/>
            <a:ext cx="8159887" cy="489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04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125AB7-5BA8-788F-021C-7F45B124B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F19C5B-D650-DB37-669B-8DE48E49C8D5}"/>
              </a:ext>
            </a:extLst>
          </p:cNvPr>
          <p:cNvSpPr txBox="1"/>
          <p:nvPr/>
        </p:nvSpPr>
        <p:spPr>
          <a:xfrm>
            <a:off x="856527" y="671331"/>
            <a:ext cx="10197296" cy="1137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Bookman Old Style" panose="0205060405050502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857A58-5C09-EDED-AF49-3BDE20E05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525" y="2092211"/>
            <a:ext cx="1019729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Project/VM host (lab server)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12–16 CPU cores, 128 GB RAM, multiple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NVMe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(2–4 TB) for fast VMs and snapshots; hardware RAID or equivalent for redundancy.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 / ML server (optional)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Multi-core CPU, 64–256 GB RAM, at least one GPU with ≥16 GB VRAM (for NLP/behavior models), 4–8 TB SSD.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/ logging server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8+ cores, 64 GB RAM, 8+ TB HDD or NAS (RAID) for long-term logs, with fast SSDs for DB indices.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Phishing/simulation web server (isolated VLAN)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4–8 cores, 32–64 GB RAM, 1–2 TB SSD; runs mail/web simulation tools in sandbox.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Mail/SMTP sandbox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Dedicated VM or appliance for sending simulated emails (isolated, rate-limited, legal/consent controls).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Endpoint test machines (diverse fleet)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6–12 workstations/laptops covering Windows (7/10/11), macOS, and common Linux distros; each with 8–16 GB RAM, 256–512 GB SSD.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device pool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4–8 smartphones/tablets (mixed Android/iOS; different OS versions) for smishing and app-based scenarios.</a:t>
            </a:r>
          </a:p>
        </p:txBody>
      </p:sp>
    </p:spTree>
    <p:extLst>
      <p:ext uri="{BB962C8B-B14F-4D97-AF65-F5344CB8AC3E}">
        <p14:creationId xmlns:p14="http://schemas.microsoft.com/office/powerpoint/2010/main" val="140662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125AB7-5BA8-788F-021C-7F45B124B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954240-49AA-3A92-DDD0-2247DE47092E}"/>
              </a:ext>
            </a:extLst>
          </p:cNvPr>
          <p:cNvSpPr txBox="1"/>
          <p:nvPr/>
        </p:nvSpPr>
        <p:spPr>
          <a:xfrm>
            <a:off x="509286" y="271136"/>
            <a:ext cx="103593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Bookman Old Style" panose="02050604050505020204" pitchFamily="18" charset="0"/>
              </a:rPr>
              <a:t>Software Requirements</a:t>
            </a:r>
          </a:p>
          <a:p>
            <a:pPr algn="ctr"/>
            <a:endParaRPr lang="en-IN" sz="2400" b="1" dirty="0">
              <a:latin typeface="Bookman Old Style" panose="020506040505050202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FA2CFC9-F5BC-FA75-136B-3F5347F482F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09286" y="1458784"/>
            <a:ext cx="1168271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Host OS / Server 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Linux (Ubuntu Server/CentOS/RHEL) for lab servers; Windows Server (2019/2022) if testing AD/Windows-specific scenarios.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Desktop OS images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Windows 10/11, macOS recent, and common Linux distros (Ubuntu, Fedora) as VM templates for endpoint testing.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Hypervisor / Virtualization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VMware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ESXi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Proxmox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Hyper-V or VirtualBox for local VMs; support for snapshots and isolated VLANs.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Container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Docker + Docker Compose for lightweight services; Kubernetes (k3s/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minikube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full K8s) for scalable deployments.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/ SMTP server (sandboxed)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Postfix / Exim /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Haraka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a managed sandboxed mail server; integrates with testing tools and rate-limiting.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Phishing / simulation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GoPhish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(or similar) for templated phishing campaigns, link tracking, and campaign reporting.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server / app stack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Nginx or Apache, plus frameworks (Node.js/Express, Django/Flask, or ASP.NET) for simulated landing pages and credential capture (ethical use only).</a:t>
            </a:r>
          </a:p>
        </p:txBody>
      </p:sp>
    </p:spTree>
    <p:extLst>
      <p:ext uri="{BB962C8B-B14F-4D97-AF65-F5344CB8AC3E}">
        <p14:creationId xmlns:p14="http://schemas.microsoft.com/office/powerpoint/2010/main" val="419777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8E16D-F7BB-6644-8A0A-AC58262F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5025" y="6041362"/>
            <a:ext cx="68333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57F1E4F-1CFF-5643-939E-217C01CDF565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398713B2-6651-27C2-3BE1-53E377C1F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8302" y="139201"/>
            <a:ext cx="2699563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 descr="What is Social Engineering? | Examples &amp; Prevention Tips">
            <a:extLst>
              <a:ext uri="{FF2B5EF4-FFF2-40B4-BE49-F238E27FC236}">
                <a16:creationId xmlns:a16="http://schemas.microsoft.com/office/drawing/2014/main" id="{F9E05809-33AC-2476-DBE2-6C291BDD3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52" y="1974716"/>
            <a:ext cx="8510038" cy="4066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7D370C-7775-6807-1511-396A90400153}"/>
              </a:ext>
            </a:extLst>
          </p:cNvPr>
          <p:cNvSpPr txBox="1"/>
          <p:nvPr/>
        </p:nvSpPr>
        <p:spPr>
          <a:xfrm flipH="1">
            <a:off x="3403600" y="635000"/>
            <a:ext cx="3261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Bookman Old Style" panose="02050604050505020204" pitchFamily="18" charset="0"/>
              </a:rPr>
              <a:t>Flow Diagram</a:t>
            </a:r>
            <a:endParaRPr lang="en-IN" sz="24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18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0BC8A-4FF7-C459-562B-E9E14FF92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B3D57E-FE50-618D-0D4F-0E2794E6A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8302" y="143164"/>
            <a:ext cx="2699563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1AA5EF-1F56-B5D5-5E08-C2BDAC9E87E0}"/>
              </a:ext>
            </a:extLst>
          </p:cNvPr>
          <p:cNvSpPr txBox="1"/>
          <p:nvPr/>
        </p:nvSpPr>
        <p:spPr>
          <a:xfrm>
            <a:off x="254000" y="905933"/>
            <a:ext cx="11218333" cy="573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Attackers send fake emails or messages that look genuine to trick people into revealing passwords, banking details, or other private data. It’s one of the most common online scams.</a:t>
            </a:r>
          </a:p>
          <a:p>
            <a:pPr algn="just">
              <a:buFont typeface="+mj-lt"/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Whaling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This targets senior executives or high-profile individuals through customized messages that seem official, aiming to steal sensitive company or financial information.</a:t>
            </a:r>
          </a:p>
          <a:p>
            <a:pPr algn="just">
              <a:buFont typeface="+mj-lt"/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Smishing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mix of SMS and phishing, where fraudsters send text messages pretending to be banks or services, urging victims to click links or share account details.</a:t>
            </a:r>
          </a:p>
          <a:p>
            <a:pPr algn="just">
              <a:buFont typeface="+mj-lt"/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Criminals use phone calls to impersonate trusted people like bank officers or IT staff, convincing victims to share confidential information or install harmful software.</a:t>
            </a:r>
          </a:p>
          <a:p>
            <a:pPr algn="just">
              <a:buFont typeface="+mj-lt"/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Quid Pro Quo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Scammers promise help, like technical support or a free service, but use it to get login details or system access. It relies on the victim’s willingness to exchange information.</a:t>
            </a:r>
          </a:p>
          <a:p>
            <a:pPr algn="just">
              <a:buFont typeface="+mj-lt"/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Scareware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Fake alerts warn users that their computer is infected, prompting them to download “security tools” that are actually malware. Fear is the key manipulation factor here.</a:t>
            </a:r>
          </a:p>
          <a:p>
            <a:pPr algn="just">
              <a:buFont typeface="+mj-lt"/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Dumpster Diving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Hackers go through discarded papers, drives, or devices to find passwords, confidential reports, or personal data that can be misused.</a:t>
            </a:r>
          </a:p>
          <a:p>
            <a:pPr algn="just">
              <a:buFont typeface="+mj-lt"/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Pop-Up Window Scams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Fake pop-up ads appear while browsing, asking users to click or download “updates,” which secretly install spyware or steal information.</a:t>
            </a:r>
          </a:p>
          <a:p>
            <a:pPr algn="just">
              <a:buFont typeface="+mj-lt"/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Pretexting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attacker creates a believable scenario (like a survey or verification call) to gather personal or organizational details without raising suspicion.</a:t>
            </a:r>
          </a:p>
          <a:p>
            <a:pPr algn="just">
              <a:buFont typeface="+mj-lt"/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Tailgating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Unauthorized individuals follow legitimate employees into secure buildings or areas without an access card, often pretending to have forgotten theirs.</a:t>
            </a:r>
          </a:p>
          <a:p>
            <a:pPr algn="just">
              <a:buFont typeface="+mj-lt"/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Baiting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Attackers leave infected USB drives or free downloads in public places, hoping someone plugs them in or installs the software, leading to system breaches.</a:t>
            </a:r>
          </a:p>
          <a:p>
            <a:pPr algn="just">
              <a:buFont typeface="+mj-lt"/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Ransomware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Malicious software encrypts files or locks systems, demanding money to unlock them. It often spreads through email attachments or unsafe links.</a:t>
            </a:r>
          </a:p>
          <a:p>
            <a:pPr algn="just">
              <a:buFont typeface="+mj-lt"/>
              <a:buAutoNum type="arabicPeriod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Diversion Theft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Fraudsters intercept or redirect deliveries, shipments, or online data transfers, pretending to be legitimate recipients to steal valuable goods or information.</a:t>
            </a:r>
          </a:p>
        </p:txBody>
      </p:sp>
    </p:spTree>
    <p:extLst>
      <p:ext uri="{BB962C8B-B14F-4D97-AF65-F5344CB8AC3E}">
        <p14:creationId xmlns:p14="http://schemas.microsoft.com/office/powerpoint/2010/main" val="1425298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4F9DC-0E72-3A27-3BC2-A74411C53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5C60E2-C63D-217D-BE59-9DA8BD202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8302" y="143164"/>
            <a:ext cx="2699563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11CE4D-0732-5596-3772-A9199FE145B3}"/>
              </a:ext>
            </a:extLst>
          </p:cNvPr>
          <p:cNvSpPr txBox="1"/>
          <p:nvPr/>
        </p:nvSpPr>
        <p:spPr>
          <a:xfrm>
            <a:off x="2861733" y="575733"/>
            <a:ext cx="375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Modules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C2C52FD2-DF86-AB62-BBB7-D31B9687E36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9332" y="1308725"/>
            <a:ext cx="12022665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Understanding Attacker Mindset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How attackers plan, choose targets, and build trust before launching attacks.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Identifying emotional triggers attackers commonly exploit (fear, urgency, trust).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Learning how attackers adapt strategies when faced with resistance.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Social Engineering Attack Lifecycle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Step-by-step stages: Reconnaissance → Engagement → Exploitation → Exit.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Recognizing early warning signs at each stage.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Importance of documentation and evidence collection during investigations.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Insider Threat and Internal Manipulation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Employees, contractors, or partners may misuse authorized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Psychological and financial pressures that lead to insider compromise.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Monitoring behavioral red flags and reporting procedures.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Business Email Compromise (BEC) Fraud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Impersonating executives or employees to request payments or sensitive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Email spoofing indicators and verification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Case-based learning on financial loss prevention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77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3D454-D57C-6066-4B82-68D832AB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FA8D43-EEAA-489C-FBA7-BC427471D72A}"/>
              </a:ext>
            </a:extLst>
          </p:cNvPr>
          <p:cNvSpPr txBox="1"/>
          <p:nvPr/>
        </p:nvSpPr>
        <p:spPr>
          <a:xfrm>
            <a:off x="2819400" y="829733"/>
            <a:ext cx="452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proposed Idea / Project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A75D817-8C5A-8FDA-7A3D-B0CE9C16317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7800" y="1697506"/>
            <a:ext cx="11650133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Behavioral micro-signatures: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Introduces short, trackable micro-behaviors (micro-signatures) — e.g., response latency patterns, phrasing switches — that reliably indicate social-engineering susceptibility beyond simple click rates.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Adaptive pretext generation: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Uses an automated, ethical pretext-generation framework that combines OSINT-derived context with randomized safe variants to create high-variability, low-repetition social tests.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Emotion-aware training modules: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Training that adjusts content and timing based on detected emotional states (survey/interaction cues), improving retention vs. one-size-fits-all drills.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Cross-channel correlation detection: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Correlates phishing, vishing, and social-media signals to detect coordinated multi-channel campaigns earlier.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Human-in-the-loop automated red-teaming: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hybrid system where automation proposes attack vectors and human testers verify/steer them—faster while retaining ethical judgment.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Context-preserving OSINT sanitization: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New methods to create realistic but anonymized target profiles for labs (retain realism while preventing doxxing).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Privacy-first measurement metrics: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Novel KPIs that measure awareness without exposing individuals (e.g., aggregated “verification attempts per 1,000 requests”).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4AB4A-8589-C84F-10A3-85745C4D7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8302" y="143164"/>
            <a:ext cx="2699563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4564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69EBA-645D-5DB1-C9CB-925DA0FC7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CAB7C-3C28-E286-F28B-95129A12A9C6}"/>
              </a:ext>
            </a:extLst>
          </p:cNvPr>
          <p:cNvSpPr txBox="1"/>
          <p:nvPr/>
        </p:nvSpPr>
        <p:spPr>
          <a:xfrm>
            <a:off x="314135" y="451513"/>
            <a:ext cx="1111994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sz="2000" b="1" u="sng" dirty="0">
              <a:latin typeface="Bookman Old Style" panose="02050604050505020204" pitchFamily="18" charset="0"/>
            </a:endParaRPr>
          </a:p>
          <a:p>
            <a:endParaRPr lang="en-US" sz="2000" b="1" u="sng" dirty="0">
              <a:latin typeface="Bookman Old Style" panose="0205060405050502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1E231E-D886-9075-4CA0-7F16934FB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8302" y="139201"/>
            <a:ext cx="2699563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4F86DD2-5A98-E055-3A5A-90AD1B32A32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80337" y="1565437"/>
            <a:ext cx="911673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Humans are the primary vulnerability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Social engineering exploits psychological and emotional factors rather than technical flaws.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Attacker mindset is strategic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Understanding how attackers plan, select targets, and manipulate trust is essential for prevention.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Lifecycle awareness is crucial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Recognizing the stages of social engineering attacks (reconnaissance, engagement, exploitation, exit) helps detect threats early.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Insider threats pose significant risk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Employees, contractors, or partners can misuse access due to financial, psychological, or ideological motivations.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BEC and email-based attacks are highly effective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Impersonation and urgent requests can lead to financial loss without proper verification protocols.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Prevention requires a layered approach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Combining technical defenses, behavioral awareness, and organizational policies reduces vulnerability.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training is key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Employee education, simulations, and awareness programs strengthen resilience against evolving tactics.</a:t>
            </a:r>
          </a:p>
        </p:txBody>
      </p:sp>
    </p:spTree>
    <p:extLst>
      <p:ext uri="{BB962C8B-B14F-4D97-AF65-F5344CB8AC3E}">
        <p14:creationId xmlns:p14="http://schemas.microsoft.com/office/powerpoint/2010/main" val="3629649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8337C-1D42-D9EE-E6AA-E44BB6071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09F8A9-D91B-EDF8-A470-519A82CF4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8302" y="139201"/>
            <a:ext cx="2699563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225B72-8998-1C68-15B8-40A4564BD841}"/>
              </a:ext>
            </a:extLst>
          </p:cNvPr>
          <p:cNvSpPr txBox="1"/>
          <p:nvPr/>
        </p:nvSpPr>
        <p:spPr>
          <a:xfrm flipH="1">
            <a:off x="3152986" y="508533"/>
            <a:ext cx="3346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33B05A-2941-22CB-22E9-9B634065C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867" y="1349449"/>
            <a:ext cx="1177713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Montañez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R., 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Golob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 E., &amp; Xu, S. (2020).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 cognition through the lens of social engineering cyberattacks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 Frontiers in Psychology, 11. https://doi.org/10.3389/fpsyg.2020.01755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Frontiers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Bhusal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C. S. (2021).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Systematic review on social engineering: hacking by manipulating humans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 Journal of Information Security, 12, 104‑114.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SCIRP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Joseph, R. (2023).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human factor: Exploiting psychology in cyber‑attacks through social engineering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International Journal of Machine Learning Research in Cybersecurity and Artificial Intelligence, 14(1), 954‑966.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ijmlrcai.com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E. O.,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Avwokuruay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 e, O., &amp; Umar, A. M. (2025).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engineering: Understanding human factors in cybersecurity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International Journal of Convergent and Informatics Science Research.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harvardpublications.com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Singh, S., Abri, F., &amp;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Siami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 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 (2023).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Exploiting large language models (LLMs) through deception techniques and persuasion principles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arXiv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Schmitt, M., &amp; 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Flechais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 I. (2023).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deception: Generative artificial intelligence in social engineering and phishing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4494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B8F1-05E9-07E3-39E6-5440FC9B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625804-55EE-9262-0513-B15AAAE3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757" y="937322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4C79AF-A4DC-60B2-2D45-0704C945A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2113935"/>
            <a:ext cx="10034105" cy="41486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ctr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US" sz="32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1EDFA5-D4F7-CF5E-05CA-F1D090EE9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711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924</TotalTime>
  <Words>2832</Words>
  <Application>Microsoft Office PowerPoint</Application>
  <PresentationFormat>Widescreen</PresentationFormat>
  <Paragraphs>203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Bookman Old Style</vt:lpstr>
      <vt:lpstr>Calibri</vt:lpstr>
      <vt:lpstr>Times New Roman</vt:lpstr>
      <vt:lpstr>Trebuchet MS</vt:lpstr>
      <vt:lpstr>Wingdings 3</vt:lpstr>
      <vt:lpstr>Facet</vt:lpstr>
      <vt:lpstr>PowerPoint Presentation</vt:lpstr>
      <vt:lpstr>Agenda   </vt:lpstr>
      <vt:lpstr>Introduction</vt:lpstr>
      <vt:lpstr>PowerPoint Presentation</vt:lpstr>
      <vt:lpstr>Observations from the 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AIG-POC</dc:title>
  <dc:creator>debashis.sengupta</dc:creator>
  <cp:lastModifiedBy>Shane Rabbani</cp:lastModifiedBy>
  <cp:revision>147</cp:revision>
  <cp:lastPrinted>2020-11-26T03:04:06Z</cp:lastPrinted>
  <dcterms:created xsi:type="dcterms:W3CDTF">2008-12-05T06:42:08Z</dcterms:created>
  <dcterms:modified xsi:type="dcterms:W3CDTF">2025-11-10T17:16:44Z</dcterms:modified>
</cp:coreProperties>
</file>